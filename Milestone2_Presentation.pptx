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&amp; Societal Concerns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65760" y="1280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Artificial Intelligence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2057400"/>
            <a:ext cx="1508760" cy="384048"/>
          </a:xfrm>
          <a:prstGeom prst="roundRect">
            <a:avLst>
              <a:gd name="adj" fmla="val 14286"/>
            </a:avLst>
          </a:prstGeom>
          <a:solidFill>
            <a:srgbClr val="D64045">
              <a:alpha val="70000"/>
            </a:srgbClr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05740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48256" y="2057400"/>
            <a:ext cx="1508760" cy="384048"/>
          </a:xfrm>
          <a:prstGeom prst="roundRect">
            <a:avLst>
              <a:gd name="adj" fmla="val 14286"/>
            </a:avLst>
          </a:prstGeom>
          <a:solidFill>
            <a:srgbClr val="D64045">
              <a:alpha val="70000"/>
            </a:srgbClr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48256" y="205740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30752" y="2057400"/>
            <a:ext cx="1508760" cy="384048"/>
          </a:xfrm>
          <a:prstGeom prst="roundRect">
            <a:avLst>
              <a:gd name="adj" fmla="val 14286"/>
            </a:avLst>
          </a:prstGeom>
          <a:solidFill>
            <a:srgbClr val="D64045">
              <a:alpha val="70000"/>
            </a:srgbClr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30752" y="205740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Misuse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13248" y="2057400"/>
            <a:ext cx="1508760" cy="384048"/>
          </a:xfrm>
          <a:prstGeom prst="roundRect">
            <a:avLst>
              <a:gd name="adj" fmla="val 14286"/>
            </a:avLst>
          </a:prstGeom>
          <a:solidFill>
            <a:srgbClr val="D64045">
              <a:alpha val="70000"/>
            </a:srgbClr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13248" y="205740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095744" y="2057400"/>
            <a:ext cx="1508760" cy="384048"/>
          </a:xfrm>
          <a:prstGeom prst="roundRect">
            <a:avLst>
              <a:gd name="adj" fmla="val 14286"/>
            </a:avLst>
          </a:prstGeom>
          <a:solidFill>
            <a:srgbClr val="D64045">
              <a:alpha val="70000"/>
            </a:srgbClr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95744" y="205740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06040"/>
            <a:ext cx="8412480" cy="27432"/>
          </a:xfrm>
          <a:prstGeom prst="rect">
            <a:avLst/>
          </a:prstGeom>
          <a:solidFill>
            <a:srgbClr val="3A5C9E"/>
          </a:solidFill>
          <a:ln w="12700">
            <a:solidFill>
              <a:srgbClr val="3A5C9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6974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— Project Report &amp; Presentation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309067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S3-  | 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 Pant (E23CSEU2212)  •  Aryan Mavi (E23CSEU2193)  •  Kabir Basoya (E23CSEU2177)  •  Rishi (E23CSEU2277)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34290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Dr. Susmita Das  |  Bennett University — The Times Group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132320" y="274320"/>
            <a:ext cx="2286000" cy="2286000"/>
          </a:xfrm>
          <a:prstGeom prst="ellipse">
            <a:avLst/>
          </a:prstGeom>
          <a:solidFill>
            <a:srgbClr val="D64045">
              <a:alpha val="15000"/>
            </a:srgbClr>
          </a:solidFill>
          <a:ln w="12700">
            <a:solidFill>
              <a:srgbClr val="D64045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0" y="1097280"/>
            <a:ext cx="1280160" cy="1280160"/>
          </a:xfrm>
          <a:prstGeom prst="ellipse">
            <a:avLst/>
          </a:prstGeom>
          <a:solidFill>
            <a:srgbClr val="2E4D8A">
              <a:alpha val="30000"/>
            </a:srgbClr>
          </a:solidFill>
          <a:ln w="12700">
            <a:solidFill>
              <a:srgbClr val="2E4D8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Contributions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C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22960"/>
            <a:ext cx="4114800" cy="475488"/>
          </a:xfrm>
          <a:prstGeom prst="rect">
            <a:avLst/>
          </a:prstGeom>
          <a:solidFill>
            <a:srgbClr val="2E4D8A"/>
          </a:solidFill>
          <a:ln w="12700">
            <a:solidFill>
              <a:srgbClr val="2E4D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" y="859536"/>
            <a:ext cx="38953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 Pant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38328" y="1353312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E23CSEU2212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6616" y="1700784"/>
            <a:ext cx="128016" cy="128016"/>
          </a:xfrm>
          <a:prstGeom prst="ellipse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" y="164592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researcher for facial recognition and surveillance case studies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6616" y="2048256"/>
            <a:ext cx="128016" cy="128016"/>
          </a:xfrm>
          <a:prstGeom prst="ellipse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7784" y="199339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policy document analysis (UNESCO, OECD, GDPR)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6616" y="2395728"/>
            <a:ext cx="128016" cy="128016"/>
          </a:xfrm>
          <a:prstGeom prst="ellipse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" y="234086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Coordinated team deliverables and report structure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82296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C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822960"/>
            <a:ext cx="4114800" cy="475488"/>
          </a:xfrm>
          <a:prstGeom prst="rect">
            <a:avLst/>
          </a:prstGeom>
          <a:solidFill>
            <a:srgbClr val="2E4D8A"/>
          </a:solidFill>
          <a:ln w="12700">
            <a:solidFill>
              <a:srgbClr val="2E4D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81728" y="859536"/>
            <a:ext cx="38953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Aryan Mavi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81728" y="1353312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E23CSEU2193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0016" y="1700784"/>
            <a:ext cx="128016" cy="128016"/>
          </a:xfrm>
          <a:prstGeom prst="ellipse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01184" y="164592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In-depth analysis of social media algorithms and data misuse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0016" y="2048256"/>
            <a:ext cx="128016" cy="128016"/>
          </a:xfrm>
          <a:prstGeom prst="ellipse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01184" y="199339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mapping and impact assessment sections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0016" y="2395728"/>
            <a:ext cx="128016" cy="128016"/>
          </a:xfrm>
          <a:prstGeom prst="ellipse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01184" y="234086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synthesis and reference compilation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" y="3035808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C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28600" y="3035808"/>
            <a:ext cx="4114800" cy="475488"/>
          </a:xfrm>
          <a:prstGeom prst="rect">
            <a:avLst/>
          </a:prstGeom>
          <a:solidFill>
            <a:srgbClr val="2E4D8A"/>
          </a:solidFill>
          <a:ln w="12700">
            <a:solidFill>
              <a:srgbClr val="2E4D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" y="3072384"/>
            <a:ext cx="38953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Kabir Basoya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38328" y="3566160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E23CSEU2177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56616" y="3913632"/>
            <a:ext cx="128016" cy="128016"/>
          </a:xfrm>
          <a:prstGeom prst="ellipse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7784" y="3858768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 technology research and case documentation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56616" y="4261104"/>
            <a:ext cx="128016" cy="128016"/>
          </a:xfrm>
          <a:prstGeom prst="ellipse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7784" y="420624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of existing legal and technical safeguards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56616" y="4608576"/>
            <a:ext cx="128016" cy="128016"/>
          </a:xfrm>
          <a:prstGeom prst="ellipse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7784" y="455371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design and visual structuring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0" y="3035808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C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72000" y="3035808"/>
            <a:ext cx="4114800" cy="475488"/>
          </a:xfrm>
          <a:prstGeom prst="rect">
            <a:avLst/>
          </a:prstGeom>
          <a:solidFill>
            <a:srgbClr val="2E4D8A"/>
          </a:solidFill>
          <a:ln w="12700">
            <a:solidFill>
              <a:srgbClr val="2E4D8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81728" y="3072384"/>
            <a:ext cx="38953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Rishi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681728" y="3566160"/>
            <a:ext cx="3895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E23CSEU2277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00016" y="3913632"/>
            <a:ext cx="128016" cy="128016"/>
          </a:xfrm>
          <a:prstGeom prst="ellipse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01184" y="3858768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on data misuse patterns and consent frameworks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00016" y="4261104"/>
            <a:ext cx="128016" cy="128016"/>
          </a:xfrm>
          <a:prstGeom prst="ellipse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01184" y="420624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regulatory gaps across India, EU and US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00016" y="4608576"/>
            <a:ext cx="128016" cy="128016"/>
          </a:xfrm>
          <a:prstGeom prst="ellipse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01184" y="455371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Cross-checking sources and finalising report content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49377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is embedded in systems that billions of people interact with daily — social media, surveillance cameras, government databases, and workplace tools. These systems continuously collect personal data, often without the users' knowledge or meaningful consent.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AI brings genuine benefits to efficiency and decision-making, it also enables serious harms: facial recognition that misidentifies minority individuals, recommendation engines that amplify outrage and misinformation, surveillance infrastructure used to suppress political dissent, and deepfake technology that can destroy reputations or commit fraud.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laws and ethical frameworks were designed for an earlier technological era. They cannot keep pace with the speed, scale, or complexity of modern AI deployment — leaving individuals with limited control over their own data and identity.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577840" y="868680"/>
            <a:ext cx="3291840" cy="868680"/>
          </a:xfrm>
          <a:prstGeom prst="rect">
            <a:avLst/>
          </a:prstGeom>
          <a:solidFill>
            <a:srgbClr val="E8EDF5"/>
          </a:solidFill>
          <a:ln w="12700">
            <a:solidFill>
              <a:srgbClr val="C5D3EE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577840" y="868680"/>
            <a:ext cx="91440" cy="868680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42432" y="92354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Violation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42432" y="119786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data collection without awareness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577840" y="1892808"/>
            <a:ext cx="3291840" cy="868680"/>
          </a:xfrm>
          <a:prstGeom prst="rect">
            <a:avLst/>
          </a:prstGeom>
          <a:solidFill>
            <a:srgbClr val="EAF0FA"/>
          </a:solidFill>
          <a:ln w="12700">
            <a:solidFill>
              <a:srgbClr val="C5D3EE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577840" y="1892808"/>
            <a:ext cx="91440" cy="868680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42432" y="194767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Biased Surveillance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42432" y="222199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misidentification and profiling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577840" y="2916936"/>
            <a:ext cx="3291840" cy="868680"/>
          </a:xfrm>
          <a:prstGeom prst="rect">
            <a:avLst/>
          </a:prstGeom>
          <a:solidFill>
            <a:srgbClr val="E8EDF5"/>
          </a:solidFill>
          <a:ln w="12700">
            <a:solidFill>
              <a:srgbClr val="C5D3EE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577840" y="2916936"/>
            <a:ext cx="91440" cy="868680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42432" y="29718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 Threat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742432" y="3246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media enabling fraud &amp; harm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577840" y="3941064"/>
            <a:ext cx="3291840" cy="868680"/>
          </a:xfrm>
          <a:prstGeom prst="rect">
            <a:avLst/>
          </a:prstGeom>
          <a:solidFill>
            <a:srgbClr val="EAF0FA"/>
          </a:solidFill>
          <a:ln w="12700">
            <a:solidFill>
              <a:srgbClr val="C5D3EE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577840" y="3941064"/>
            <a:ext cx="91440" cy="868680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42432" y="39959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Failure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742432" y="427024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Terms of service as legal illusion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Details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40690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3EE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41248"/>
            <a:ext cx="4069080" cy="347472"/>
          </a:xfrm>
          <a:prstGeom prst="rect">
            <a:avLst/>
          </a:prstGeom>
          <a:solidFill>
            <a:srgbClr val="2E4D8A"/>
          </a:solidFill>
          <a:ln w="12700">
            <a:solidFill>
              <a:srgbClr val="2E4D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87782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Ethics Reports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02336" y="1280160"/>
            <a:ext cx="109728" cy="109728"/>
          </a:xfrm>
          <a:prstGeom prst="ellipse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122529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UNESCO AI Ethics Recommendation (2021)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02336" y="1737360"/>
            <a:ext cx="109728" cy="109728"/>
          </a:xfrm>
          <a:prstGeom prst="ellipse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" y="168249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OECD AI Principles (2019)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02336" y="2194560"/>
            <a:ext cx="109728" cy="109728"/>
          </a:xfrm>
          <a:prstGeom prst="ellipse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" y="213969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Draft (2023)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09160" y="841248"/>
            <a:ext cx="40690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3EE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841248"/>
            <a:ext cx="4069080" cy="347472"/>
          </a:xfrm>
          <a:prstGeom prst="rect">
            <a:avLst/>
          </a:prstGeom>
          <a:solidFill>
            <a:srgbClr val="2E4D8A"/>
          </a:solidFill>
          <a:ln w="12700">
            <a:solidFill>
              <a:srgbClr val="2E4D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18888" y="87782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Research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37176" y="1280160"/>
            <a:ext cx="109728" cy="109728"/>
          </a:xfrm>
          <a:prstGeom prst="ellipse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0056" y="122529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Buolamwini &amp; Gebru (2018) — Gender Shades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37176" y="1737360"/>
            <a:ext cx="109728" cy="109728"/>
          </a:xfrm>
          <a:prstGeom prst="ellipse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0056" y="168249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Chesney &amp; Citron (2019) — Deepfakes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37176" y="2194560"/>
            <a:ext cx="109728" cy="109728"/>
          </a:xfrm>
          <a:prstGeom prst="ellipse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0056" y="213969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Zuboff (2019) — Surveillance Capitalism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2944368"/>
            <a:ext cx="40690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3EE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944368"/>
            <a:ext cx="4069080" cy="347472"/>
          </a:xfrm>
          <a:prstGeom prst="rect">
            <a:avLst/>
          </a:prstGeom>
          <a:solidFill>
            <a:srgbClr val="2E4D8A"/>
          </a:solidFill>
          <a:ln w="12700">
            <a:solidFill>
              <a:srgbClr val="2E4D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29809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Investigative Case Studies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02336" y="3383280"/>
            <a:ext cx="109728" cy="109728"/>
          </a:xfrm>
          <a:prstGeom prst="ellipse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5216" y="332841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Clearview AI legal filings &amp; privacy rulings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02336" y="3840480"/>
            <a:ext cx="109728" cy="109728"/>
          </a:xfrm>
          <a:prstGeom prst="ellipse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5216" y="378561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Frances Haugen whistleblower documents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02336" y="4297680"/>
            <a:ext cx="109728" cy="109728"/>
          </a:xfrm>
          <a:prstGeom prst="ellipse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5216" y="424281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Sensity AI deepfake landscape report (2023)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09160" y="2944368"/>
            <a:ext cx="40690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3EE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2944368"/>
            <a:ext cx="4069080" cy="347472"/>
          </a:xfrm>
          <a:prstGeom prst="rect">
            <a:avLst/>
          </a:prstGeom>
          <a:solidFill>
            <a:srgbClr val="2E4D8A"/>
          </a:solidFill>
          <a:ln w="12700">
            <a:solidFill>
              <a:srgbClr val="2E4D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18888" y="29809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Instruments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837176" y="3383280"/>
            <a:ext cx="109728" cy="109728"/>
          </a:xfrm>
          <a:prstGeom prst="ellipse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0056" y="332841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(EU, 2016)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37176" y="3840480"/>
            <a:ext cx="109728" cy="109728"/>
          </a:xfrm>
          <a:prstGeom prst="ellipse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0056" y="378561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CCPA (California, 2018)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837176" y="4297680"/>
            <a:ext cx="109728" cy="109728"/>
          </a:xfrm>
          <a:prstGeom prst="ellipse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0056" y="424281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IT Act &amp; PDPB drafts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74320" y="47091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Justification: Case-study sources capture real-world societal harm — not just algorithmic performance metrics.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— Analytical Methodology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96112"/>
            <a:ext cx="512064" cy="512064"/>
          </a:xfrm>
          <a:prstGeom prst="ellipse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9611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822960"/>
            <a:ext cx="7955280" cy="713232"/>
          </a:xfrm>
          <a:prstGeom prst="rect">
            <a:avLst/>
          </a:prstGeom>
          <a:solidFill>
            <a:srgbClr val="F0F4FA"/>
          </a:solidFill>
          <a:ln w="12700">
            <a:solidFill>
              <a:srgbClr val="C5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8778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Use-Case Selection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0" y="877824"/>
            <a:ext cx="5349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recognition, social media algorithms, smart surveillance, generative AI / deepfakes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25780" y="1408176"/>
            <a:ext cx="0" cy="256032"/>
          </a:xfrm>
          <a:prstGeom prst="line">
            <a:avLst/>
          </a:prstGeom>
          <a:noFill/>
          <a:ln w="25400">
            <a:solidFill>
              <a:srgbClr val="D640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737360"/>
            <a:ext cx="512064" cy="512064"/>
          </a:xfrm>
          <a:prstGeom prst="ellipse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7373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1664208"/>
            <a:ext cx="7955280" cy="713232"/>
          </a:xfrm>
          <a:prstGeom prst="rect">
            <a:avLst/>
          </a:prstGeom>
          <a:solidFill>
            <a:srgbClr val="F0F4FA"/>
          </a:solidFill>
          <a:ln w="12700">
            <a:solidFill>
              <a:srgbClr val="C5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17190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Concern Mapping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1719072"/>
            <a:ext cx="5349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Privacy, consent, data misuse, misinformation — mapped per use-case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25780" y="2249424"/>
            <a:ext cx="0" cy="256032"/>
          </a:xfrm>
          <a:prstGeom prst="line">
            <a:avLst/>
          </a:prstGeom>
          <a:noFill/>
          <a:ln w="25400">
            <a:solidFill>
              <a:srgbClr val="D640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578608"/>
            <a:ext cx="512064" cy="512064"/>
          </a:xfrm>
          <a:prstGeom prst="ellipse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14400" y="2505456"/>
            <a:ext cx="7955280" cy="713232"/>
          </a:xfrm>
          <a:prstGeom prst="rect">
            <a:avLst/>
          </a:prstGeom>
          <a:solidFill>
            <a:srgbClr val="F0F4FA"/>
          </a:solidFill>
          <a:ln w="12700">
            <a:solidFill>
              <a:srgbClr val="C5D3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4128" y="2560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Identification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83280" y="2560320"/>
            <a:ext cx="5349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Public, government, tech companies, regulators, civil society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25780" y="3090672"/>
            <a:ext cx="0" cy="256032"/>
          </a:xfrm>
          <a:prstGeom prst="line">
            <a:avLst/>
          </a:prstGeom>
          <a:noFill/>
          <a:ln w="25400">
            <a:solidFill>
              <a:srgbClr val="D640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419856"/>
            <a:ext cx="512064" cy="512064"/>
          </a:xfrm>
          <a:prstGeom prst="ellipse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41985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14400" y="3346704"/>
            <a:ext cx="7955280" cy="713232"/>
          </a:xfrm>
          <a:prstGeom prst="rect">
            <a:avLst/>
          </a:prstGeom>
          <a:solidFill>
            <a:srgbClr val="F0F4FA"/>
          </a:solidFill>
          <a:ln w="12700">
            <a:solidFill>
              <a:srgbClr val="C5D3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4128" y="34015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Assessment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83280" y="3401568"/>
            <a:ext cx="5349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Social, psychological, legal, and political consequences analysed from documented cases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25780" y="3931920"/>
            <a:ext cx="0" cy="256032"/>
          </a:xfrm>
          <a:prstGeom prst="line">
            <a:avLst/>
          </a:prstGeom>
          <a:noFill/>
          <a:ln w="25400">
            <a:solidFill>
              <a:srgbClr val="D6404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4261104"/>
            <a:ext cx="512064" cy="512064"/>
          </a:xfrm>
          <a:prstGeom prst="ellipse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26110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14400" y="4187952"/>
            <a:ext cx="7955280" cy="713232"/>
          </a:xfrm>
          <a:prstGeom prst="rect">
            <a:avLst/>
          </a:prstGeom>
          <a:solidFill>
            <a:srgbClr val="F0F4FA"/>
          </a:solidFill>
          <a:ln w="12700">
            <a:solidFill>
              <a:srgbClr val="C5D3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24128" y="42428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Safeguard Evaluation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383280" y="4242816"/>
            <a:ext cx="5349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tools, legal frameworks, and ethical guidelines critically assessed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Use-Cases Analysed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0690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3EE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109728" cy="1874520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" y="932688"/>
            <a:ext cx="37307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Recognition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93776" y="1298448"/>
            <a:ext cx="373075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Clearview AI scraped 30B+ photos without consent; false-positive arrests documented; Gender Shades study shows 35% higher error on dark-skinned women.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822960"/>
            <a:ext cx="40690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3EE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822960"/>
            <a:ext cx="109728" cy="1874520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28616" y="932688"/>
            <a:ext cx="37307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Algorithms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28616" y="1298448"/>
            <a:ext cx="373075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internal research confirmed algorithm amplified political outrage. Haugen disclosures show company suppressed safety changes to protect engagement.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926080"/>
            <a:ext cx="40690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3EE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926080"/>
            <a:ext cx="109728" cy="1874520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" y="3035808"/>
            <a:ext cx="37307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Surveillance Systems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" y="3401568"/>
            <a:ext cx="373075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Social Credit System and India's Hyderabad CCTV network monitor civilians continuously with no opt-out. Used to track dissidents and minorities.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2926080"/>
            <a:ext cx="40690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3EE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926080"/>
            <a:ext cx="109728" cy="1874520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28616" y="3035808"/>
            <a:ext cx="37307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28616" y="3401568"/>
            <a:ext cx="373075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 CEO audio fraud: EUR 220,000 stolen via AI-cloned voice. 96% of deepfake videos target women (Sensity AI, 2023). Barrier to entry is now minimal.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0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Is Structurally Absent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1463040" cy="54864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36192"/>
            <a:ext cx="201168" cy="201168"/>
          </a:xfrm>
          <a:prstGeom prst="ellipse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481328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recognition deploys in public spaces with no individual notification or opt-out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03704"/>
            <a:ext cx="201168" cy="201168"/>
          </a:xfrm>
          <a:prstGeom prst="ellipse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2148840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terms of service run thousands of words and are legally impenetrable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871216"/>
            <a:ext cx="201168" cy="201168"/>
          </a:xfrm>
          <a:prstGeom prst="ellipse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2816352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surveillance bypasses consent at the institutional level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538728"/>
            <a:ext cx="201168" cy="201168"/>
          </a:xfrm>
          <a:prstGeom prst="ellipse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3483864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 training data is repurposed from photos/videos never intended for AI use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206240"/>
            <a:ext cx="201168" cy="201168"/>
          </a:xfrm>
          <a:prstGeom prst="ellipse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4151376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is not a checkbox — it is the mechanism through which people retain agency over their own identity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2 — Bias Is Systematic, Not Accidental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651760" cy="2011680"/>
          </a:xfrm>
          <a:prstGeom prst="rect">
            <a:avLst/>
          </a:prstGeom>
          <a:solidFill>
            <a:srgbClr val="E8EDF5"/>
          </a:solidFill>
          <a:ln w="12700">
            <a:solidFill>
              <a:srgbClr val="C5D3EE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058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84048" y="1901952"/>
            <a:ext cx="24323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error rate on dark-skinned women in facial recognition (Buolamwini &amp; Gebru, 2018)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914400"/>
            <a:ext cx="2651760" cy="2011680"/>
          </a:xfrm>
          <a:prstGeom prst="rect">
            <a:avLst/>
          </a:prstGeom>
          <a:solidFill>
            <a:srgbClr val="E8EDF5"/>
          </a:solidFill>
          <a:ln w="12700">
            <a:solidFill>
              <a:srgbClr val="C5D3EE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0058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3310128" y="1901952"/>
            <a:ext cx="24323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deepfake videos are non-consensual intimate imagery targeting women (Sensity AI, 2023)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914400"/>
            <a:ext cx="2651760" cy="2011680"/>
          </a:xfrm>
          <a:prstGeom prst="rect">
            <a:avLst/>
          </a:prstGeom>
          <a:solidFill>
            <a:srgbClr val="E8EDF5"/>
          </a:solidFill>
          <a:ln w="12700">
            <a:solidFill>
              <a:srgbClr val="C5D3EE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0058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6236208" y="1901952"/>
            <a:ext cx="24323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likely for Black individuals to be falsely flagged by law enforcement AI tools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063240"/>
            <a:ext cx="84124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in AI is not random noise — it is the predictable output of training on historically unequal data. When a company deploys a biased system knowing this, it becomes an ethical choice, not merely a technical limitation. The failure to correct for known bias before deployment is a form of discrimination by design.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 Case Study — CEO Audio Fraud (2019)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20624" cy="420624"/>
          </a:xfrm>
          <a:prstGeom prst="rect">
            <a:avLst/>
          </a:prstGeom>
          <a:solidFill>
            <a:srgbClr val="2E4D8A"/>
          </a:solidFill>
          <a:ln w="12700">
            <a:solidFill>
              <a:srgbClr val="2E4D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686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" y="1289304"/>
            <a:ext cx="0" cy="384048"/>
          </a:xfrm>
          <a:prstGeom prst="line">
            <a:avLst/>
          </a:prstGeom>
          <a:noFill/>
          <a:ln w="25400">
            <a:solidFill>
              <a:srgbClr val="2E4D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868680"/>
            <a:ext cx="8046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923544"/>
            <a:ext cx="7863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trains AI on recordings of the real CEO's voice from public speeches and media.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673352"/>
            <a:ext cx="420624" cy="420624"/>
          </a:xfrm>
          <a:prstGeom prst="rect">
            <a:avLst/>
          </a:prstGeom>
          <a:solidFill>
            <a:srgbClr val="2E4D8A"/>
          </a:solidFill>
          <a:ln w="12700">
            <a:solidFill>
              <a:srgbClr val="2E4D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6733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5488" y="2093976"/>
            <a:ext cx="0" cy="384048"/>
          </a:xfrm>
          <a:prstGeom prst="line">
            <a:avLst/>
          </a:prstGeom>
          <a:noFill/>
          <a:ln w="25400">
            <a:solidFill>
              <a:srgbClr val="2E4D8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1673352"/>
            <a:ext cx="8046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728216"/>
            <a:ext cx="7863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a real-time synthetic voice call to the subsidiary company's CEO.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478024"/>
            <a:ext cx="420624" cy="420624"/>
          </a:xfrm>
          <a:prstGeom prst="rect">
            <a:avLst/>
          </a:prstGeom>
          <a:solidFill>
            <a:srgbClr val="2E4D8A"/>
          </a:solidFill>
          <a:ln w="12700">
            <a:solidFill>
              <a:srgbClr val="2E4D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47802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" y="2898648"/>
            <a:ext cx="0" cy="384048"/>
          </a:xfrm>
          <a:prstGeom prst="line">
            <a:avLst/>
          </a:prstGeom>
          <a:noFill/>
          <a:ln w="25400">
            <a:solidFill>
              <a:srgbClr val="2E4D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2478024"/>
            <a:ext cx="8046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2532888"/>
            <a:ext cx="7863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energy CEO receives call, believes it is his parent company's executive.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282696"/>
            <a:ext cx="420624" cy="420624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28269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5488" y="3703320"/>
            <a:ext cx="0" cy="384048"/>
          </a:xfrm>
          <a:prstGeom prst="line">
            <a:avLst/>
          </a:prstGeom>
          <a:noFill/>
          <a:ln w="25400">
            <a:solidFill>
              <a:srgbClr val="2E4D8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3282696"/>
            <a:ext cx="8046720" cy="530352"/>
          </a:xfrm>
          <a:prstGeom prst="rect">
            <a:avLst/>
          </a:prstGeom>
          <a:solidFill>
            <a:srgbClr val="FDECEA"/>
          </a:solidFill>
          <a:ln w="12700">
            <a:solidFill>
              <a:srgbClr val="F5A5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337560"/>
            <a:ext cx="7863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Instructed to wire EUR 220,000 urgently to a Hungarian supplier. Transfer is made.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4087368"/>
            <a:ext cx="420624" cy="420624"/>
          </a:xfrm>
          <a:prstGeom prst="rect">
            <a:avLst/>
          </a:prstGeom>
          <a:solidFill>
            <a:srgbClr val="2E4D8A"/>
          </a:solidFill>
          <a:ln w="12700">
            <a:solidFill>
              <a:srgbClr val="2E4D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0873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22960" y="4087368"/>
            <a:ext cx="8046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142232"/>
            <a:ext cx="7863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call made requesting another transfer — CEO grows suspicious and reports it.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4 — Regulation Lags Significantly Behind Technology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384048"/>
          </a:xfrm>
          <a:prstGeom prst="rect">
            <a:avLst/>
          </a:prstGeom>
          <a:solidFill>
            <a:srgbClr val="2E4D8A"/>
          </a:solidFill>
          <a:ln w="12700">
            <a:solidFill>
              <a:srgbClr val="2E4D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59536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94560" y="85953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Enacted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91840" y="859536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Strength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0" y="859536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Gap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225296"/>
            <a:ext cx="8595360" cy="768096"/>
          </a:xfrm>
          <a:prstGeom prst="rect">
            <a:avLst/>
          </a:prstGeom>
          <a:solidFill>
            <a:srgbClr val="F0F4FA"/>
          </a:solidFill>
          <a:ln w="12700">
            <a:solidFill>
              <a:srgbClr val="D0D9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298448"/>
            <a:ext cx="1737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(EU)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94560" y="1298448"/>
            <a:ext cx="1005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1298448"/>
            <a:ext cx="2834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comprehensive global privacy law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0" y="1298448"/>
            <a:ext cx="2651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Predates foundation models and deepfake era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084832"/>
            <a:ext cx="85953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157984"/>
            <a:ext cx="1737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PDPB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94560" y="2157984"/>
            <a:ext cx="1005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2018–2023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91840" y="2157984"/>
            <a:ext cx="2834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Establishes data principal rights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0" y="2157984"/>
            <a:ext cx="2651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revisions; enforcement still limited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944368"/>
            <a:ext cx="8595360" cy="768096"/>
          </a:xfrm>
          <a:prstGeom prst="rect">
            <a:avLst/>
          </a:prstGeom>
          <a:solidFill>
            <a:srgbClr val="F0F4FA"/>
          </a:solidFill>
          <a:ln w="12700">
            <a:solidFill>
              <a:srgbClr val="D0D9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017520"/>
            <a:ext cx="1737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CCPA (California)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94560" y="3017520"/>
            <a:ext cx="1005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91840" y="3017520"/>
            <a:ext cx="2834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opt-out rights for data sale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3017520"/>
            <a:ext cx="2651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federal equivalent; patchwork coverage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803904"/>
            <a:ext cx="859536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877056"/>
            <a:ext cx="1737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194560" y="3877056"/>
            <a:ext cx="10058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91840" y="3877056"/>
            <a:ext cx="2834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Risk-based classification for AI systems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17920" y="3877056"/>
            <a:ext cx="2651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being operationalised; no global reach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Impact Analysis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C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109728" cy="731520"/>
          </a:xfrm>
          <a:prstGeom prst="rect">
            <a:avLst/>
          </a:prstGeom>
          <a:solidFill>
            <a:srgbClr val="2E4D8A"/>
          </a:solidFill>
          <a:ln w="12700">
            <a:solidFill>
              <a:srgbClr val="2E4D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" y="8961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Public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834640" y="877824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erosion, chilling effect on behaviour, reduced autonomy, exposure to AI-driven misinformation.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673352"/>
            <a:ext cx="85953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C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673352"/>
            <a:ext cx="109728" cy="731520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" y="174650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&amp; Minorities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834640" y="1728216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Disproportionate harm — biased facial recognition, 96% of deepfake imagery targeting women, profiling of ethnic minorities.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523744"/>
            <a:ext cx="85953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C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523744"/>
            <a:ext cx="109728" cy="7315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" y="259689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Governments &amp; Law Enforcement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834640" y="2578608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unchecked misuse of surveillance tools; also bear primary responsibility for oversight and legal compliance.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374136"/>
            <a:ext cx="85953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C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374136"/>
            <a:ext cx="109728" cy="731520"/>
          </a:xfrm>
          <a:prstGeom prst="rect">
            <a:avLst/>
          </a:prstGeom>
          <a:solidFill>
            <a:srgbClr val="6A1A7A"/>
          </a:solidFill>
          <a:ln w="12700">
            <a:solidFill>
              <a:srgbClr val="6A1A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" y="34472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Companies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834640" y="342900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incentive misalignment: profits tied to engagement maximisation, not user wellbeing or accuracy.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4224528"/>
            <a:ext cx="85953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9EC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4224528"/>
            <a:ext cx="109728" cy="7315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" y="4297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Bodies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834640" y="4279392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with laws written for an earlier era; face jurisdictional limitations and enforcement challenges.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of Existing Safeguards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822960"/>
            <a:ext cx="2724912" cy="4069080"/>
          </a:xfrm>
          <a:prstGeom prst="rect">
            <a:avLst/>
          </a:prstGeom>
          <a:solidFill>
            <a:srgbClr val="F0F4FA"/>
          </a:solidFill>
          <a:ln w="12700">
            <a:solidFill>
              <a:srgbClr val="C5D3EE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822960"/>
            <a:ext cx="2724912" cy="402336"/>
          </a:xfrm>
          <a:prstGeom prst="rect">
            <a:avLst/>
          </a:prstGeom>
          <a:solidFill>
            <a:srgbClr val="2E4D8A"/>
          </a:solidFill>
          <a:ln w="12700">
            <a:solidFill>
              <a:srgbClr val="2E4D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859536"/>
            <a:ext cx="25420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Safeguards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1325880"/>
            <a:ext cx="128016" cy="128016"/>
          </a:xfrm>
          <a:prstGeom prst="ellipse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261872"/>
            <a:ext cx="22860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 detection tools (Microsoft Video Authenticator)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4048" y="2011680"/>
            <a:ext cx="128016" cy="128016"/>
          </a:xfrm>
          <a:prstGeom prst="ellipse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1947672"/>
            <a:ext cx="22860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privacy in data pipelines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84048" y="2697480"/>
            <a:ext cx="128016" cy="128016"/>
          </a:xfrm>
          <a:prstGeom prst="ellipse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2633472"/>
            <a:ext cx="22860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watermarking proposals for generative AI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56032" y="4498848"/>
            <a:ext cx="2724912" cy="402336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4517136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— but not mandatory and can be bypassed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63824" y="822960"/>
            <a:ext cx="2724912" cy="4069080"/>
          </a:xfrm>
          <a:prstGeom prst="rect">
            <a:avLst/>
          </a:prstGeom>
          <a:solidFill>
            <a:srgbClr val="F0F4FA"/>
          </a:solidFill>
          <a:ln w="12700">
            <a:solidFill>
              <a:srgbClr val="C5D3EE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63824" y="822960"/>
            <a:ext cx="2724912" cy="402336"/>
          </a:xfrm>
          <a:prstGeom prst="rect">
            <a:avLst/>
          </a:prstGeom>
          <a:solidFill>
            <a:srgbClr val="2E4D8A"/>
          </a:solidFill>
          <a:ln w="12700">
            <a:solidFill>
              <a:srgbClr val="2E4D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55264" y="859536"/>
            <a:ext cx="25420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Safeguards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91840" y="1325880"/>
            <a:ext cx="128016" cy="128016"/>
          </a:xfrm>
          <a:prstGeom prst="ellipse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83864" y="1261872"/>
            <a:ext cx="22860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(EU), CCPA (California)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91840" y="2011680"/>
            <a:ext cx="128016" cy="128016"/>
          </a:xfrm>
          <a:prstGeom prst="ellipse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83864" y="1947672"/>
            <a:ext cx="22860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IT Act &amp; PDPB drafts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91840" y="2697480"/>
            <a:ext cx="128016" cy="128016"/>
          </a:xfrm>
          <a:prstGeom prst="ellipse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83864" y="2633472"/>
            <a:ext cx="22860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Prohibition orders on Clearview AI (Canada, Australia)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163824" y="4498848"/>
            <a:ext cx="2724912" cy="402336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55264" y="4517136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Rights exist in principle; enforcement is inconsistent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71616" y="822960"/>
            <a:ext cx="2724912" cy="4069080"/>
          </a:xfrm>
          <a:prstGeom prst="rect">
            <a:avLst/>
          </a:prstGeom>
          <a:solidFill>
            <a:srgbClr val="F0F4FA"/>
          </a:solidFill>
          <a:ln w="12700">
            <a:solidFill>
              <a:srgbClr val="C5D3EE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71616" y="822960"/>
            <a:ext cx="2724912" cy="402336"/>
          </a:xfrm>
          <a:prstGeom prst="rect">
            <a:avLst/>
          </a:prstGeom>
          <a:solidFill>
            <a:srgbClr val="2E4D8A"/>
          </a:solidFill>
          <a:ln w="12700">
            <a:solidFill>
              <a:srgbClr val="2E4D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63056" y="859536"/>
            <a:ext cx="25420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Guidelines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99632" y="1325880"/>
            <a:ext cx="128016" cy="128016"/>
          </a:xfrm>
          <a:prstGeom prst="ellipse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91656" y="1261872"/>
            <a:ext cx="22860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UNESCO AI Ethics Recommendation (2021)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99632" y="2011680"/>
            <a:ext cx="128016" cy="128016"/>
          </a:xfrm>
          <a:prstGeom prst="ellipse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91656" y="1947672"/>
            <a:ext cx="22860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OECD AI Principles — transparency &amp; accountability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199632" y="2697480"/>
            <a:ext cx="128016" cy="128016"/>
          </a:xfrm>
          <a:prstGeom prst="ellipse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91656" y="2633472"/>
            <a:ext cx="22860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risk-classification framework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071616" y="4498848"/>
            <a:ext cx="2724912" cy="402336"/>
          </a:xfrm>
          <a:prstGeom prst="rect">
            <a:avLst/>
          </a:prstGeom>
          <a:solidFill>
            <a:srgbClr val="FEF3C7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63056" y="4517136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Normatively important; lack binding enforcement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74320" y="4956048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Overall: No single safeguard category is sufficient. Effective protection requires coordination across all three domains simultaneously.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Summary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0690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3EE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566928" cy="187452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481328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50976" y="1005840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Is Absent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50976" y="137160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all four use-cases, user consent was missing, uninformed, or structurally ineffective.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822960"/>
            <a:ext cx="40690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3EE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822960"/>
            <a:ext cx="566928" cy="187452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481328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85816" y="1005840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Is By Design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85816" y="137160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systems reproduce and amplify historical inequalities present in training data — this is predictable and preventable.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40690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3EE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926080"/>
            <a:ext cx="566928" cy="187452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584448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50976" y="3108960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Harm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50976" y="347472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 of deepfakes bear no technical risk. Victims — disproportionately women — face lasting reputational and legal harm.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926080"/>
            <a:ext cx="40690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3EE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926080"/>
            <a:ext cx="566928" cy="187452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3584448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85816" y="3108960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Lag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85816" y="347472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major AI law was written before the current generation of AI. Enforcement is fragmented and jurisdictionally limited.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Societal Impact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754880" cy="4114800"/>
          </a:xfrm>
          <a:prstGeom prst="rect">
            <a:avLst/>
          </a:prstGeom>
          <a:solidFill>
            <a:srgbClr val="F0F4FA"/>
          </a:solidFill>
          <a:ln w="12700">
            <a:solidFill>
              <a:srgbClr val="C5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96112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Conclusions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164592" cy="164592"/>
          </a:xfrm>
          <a:prstGeom prst="ellipse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280160"/>
            <a:ext cx="4206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harms are active and ongoing — not hypothetical future risks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" y="2084832"/>
            <a:ext cx="164592" cy="164592"/>
          </a:xfrm>
          <a:prstGeom prst="ellipse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039112"/>
            <a:ext cx="4206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with least power are harmed most — minorities, women, unrepresented populations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1480" y="2843784"/>
            <a:ext cx="164592" cy="164592"/>
          </a:xfrm>
          <a:prstGeom prst="ellipse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798064"/>
            <a:ext cx="4206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choices by companies are ethical decisions with political consequences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" y="3602736"/>
            <a:ext cx="164592" cy="164592"/>
          </a:xfrm>
          <a:prstGeom prst="ellipse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557016"/>
            <a:ext cx="4206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safeguard category is sufficient without coordinated action across all three domains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212080" y="822960"/>
            <a:ext cx="3657600" cy="41148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49240" y="896112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21808" y="1298448"/>
            <a:ext cx="201168" cy="201168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0" y="1261872"/>
            <a:ext cx="31638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AI impact assessments pre-deployment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21808" y="1865376"/>
            <a:ext cx="201168" cy="201168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0" y="1828800"/>
            <a:ext cx="31638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 facial recognition without legislative authorisation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321808" y="2432304"/>
            <a:ext cx="201168" cy="201168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77840" y="2395728"/>
            <a:ext cx="31638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 watermarking requirements for GenAI platforms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321808" y="2999232"/>
            <a:ext cx="201168" cy="201168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77840" y="2962656"/>
            <a:ext cx="31638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consent — not checkbox ToS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321808" y="3566160"/>
            <a:ext cx="201168" cy="201168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77840" y="3529584"/>
            <a:ext cx="31638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AI oversight body with enforcement powers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21808" y="4133088"/>
            <a:ext cx="201168" cy="201168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77840" y="4096512"/>
            <a:ext cx="31638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Diverse training datasets to reduce systemic bias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828800" y="1719072"/>
            <a:ext cx="5486400" cy="36576"/>
          </a:xfrm>
          <a:prstGeom prst="rect">
            <a:avLst/>
          </a:prstGeom>
          <a:solidFill>
            <a:srgbClr val="3A5C9E"/>
          </a:solidFill>
          <a:ln w="12700">
            <a:solidFill>
              <a:srgbClr val="3A5C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01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9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24942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Buolamwini &amp; Gebru (2018). Gender Shades. PMLR.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70662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Chesney &amp; Citron (2019). Deepfakes and the New Disinformation War. Foreign Affairs.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16382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Sensity AI (2023). State of Deepfakes Report.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62102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UNESCO (2021). Recommendation on the Ethics of Artificial Intelligence.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07822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OECD (2019). Recommendation of the Council on Artificial Intelligence.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53542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Zuboff, S. (2019). The Age of Surveillance Capitalism. PublicAffairs.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S3-  |  Archit Pant  •  Aryan Mavi  •  Kabir Basoya  •  Rishi  |  Bennett University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Ethics — Milestone 2</dc:title>
  <dc:subject>PptxGenJS Presentation</dc:subject>
  <dc:creator>PptxGenJS</dc:creator>
  <cp:lastModifiedBy>PptxGenJS</cp:lastModifiedBy>
  <cp:revision>1</cp:revision>
  <dcterms:created xsi:type="dcterms:W3CDTF">2026-04-24T07:36:57Z</dcterms:created>
  <dcterms:modified xsi:type="dcterms:W3CDTF">2026-04-24T07:36:57Z</dcterms:modified>
</cp:coreProperties>
</file>